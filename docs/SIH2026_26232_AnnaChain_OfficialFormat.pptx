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per shipment</c:v>
                </c:pt>
              </c:strCache>
            </c:strRef>
          </c:tx>
          <c:spPr>
            <a:solidFill>
              <a:srgbClr val="1E7145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71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55F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500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SecureHarvest</c:v>
                  </c:pt>
                  <c:pt idx="1">
                    <c:v>Throw-away USB</c:v>
                  </c:pt>
                  <c:pt idx="2">
                    <c:v>Single-use real-time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140</c:v>
                </c:pt>
                <c:pt idx="1">
                  <c:v>499</c:v>
                </c:pt>
                <c:pt idx="2">
                  <c:v>7499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8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Paste the official SIH 2026 logo in the clear space at the top right of every slide, from your Canva template. Upload as PDF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the panels. Point at Need for Solution, then at Uniqueness. Two panels, thirty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orange path with a finger: no signal, keep saving, then only the missing records go up. That branch is the problem statement's own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plainly: we costed three ethylene sensors and have not picked one, because we want to test first. Honesty scores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orange band. Without us those 29 hours are gone and the buyer argues. With us, 350 readings come back in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0896" y="164592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INDIA HACKATHON 2026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10896" y="804672"/>
            <a:ext cx="1156716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10896" y="896112"/>
            <a:ext cx="11567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AnnaChain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310896" y="1444752"/>
            <a:ext cx="11567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sensor box that travels with the food and proves what happened to 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2048256"/>
            <a:ext cx="91440" cy="9144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03504" y="1956816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 - </a:t>
            </a:r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26232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84048" y="2505456"/>
            <a:ext cx="91440" cy="9144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03504" y="2414016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 - </a:t>
            </a:r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IoT Blockchain Nodes for Farm-to-Fork Traceability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84048" y="2962656"/>
            <a:ext cx="91440" cy="9144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3504" y="2871216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- </a:t>
            </a:r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Agriculture, FoodTech &amp; Rural Development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84048" y="3419856"/>
            <a:ext cx="91440" cy="9144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3504" y="3328416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 - </a:t>
            </a:r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84048" y="3877056"/>
            <a:ext cx="91440" cy="9144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03504" y="3785616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- </a:t>
            </a:r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Food Processing Industries (MoFPI)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84048" y="4334256"/>
            <a:ext cx="91440" cy="9144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3504" y="4242816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 - </a:t>
            </a:r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84048" y="4791456"/>
            <a:ext cx="91440" cy="9144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03504" y="4700016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- </a:t>
            </a:r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784848" y="1920240"/>
            <a:ext cx="5084064" cy="1828800"/>
          </a:xfrm>
          <a:prstGeom prst="roundRect">
            <a:avLst>
              <a:gd name="adj" fmla="val 1500"/>
            </a:avLst>
          </a:prstGeom>
          <a:solidFill>
            <a:srgbClr val="DEEAF6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86016" y="1801368"/>
            <a:ext cx="1865376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86016" y="178308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967728" y="2212848"/>
            <a:ext cx="822960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2E5C8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67728" y="221284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799832" y="2423160"/>
            <a:ext cx="118872" cy="0"/>
          </a:xfrm>
          <a:prstGeom prst="line">
            <a:avLst/>
          </a:prstGeom>
          <a:noFill/>
          <a:ln w="13970">
            <a:solidFill>
              <a:srgbClr val="2E5C8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936992" y="2212848"/>
            <a:ext cx="822960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2E5C8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36992" y="221284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769096" y="2423160"/>
            <a:ext cx="118872" cy="0"/>
          </a:xfrm>
          <a:prstGeom prst="line">
            <a:avLst/>
          </a:prstGeom>
          <a:noFill/>
          <a:ln w="13970">
            <a:solidFill>
              <a:srgbClr val="2E5C8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906256" y="2212848"/>
            <a:ext cx="822960" cy="420624"/>
          </a:xfrm>
          <a:prstGeom prst="roundRect">
            <a:avLst>
              <a:gd name="adj" fmla="val 6522"/>
            </a:avLst>
          </a:prstGeom>
          <a:solidFill>
            <a:srgbClr val="1F6FB5"/>
          </a:solidFill>
          <a:ln w="15875">
            <a:solidFill>
              <a:srgbClr val="1F6FB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906256" y="221284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738360" y="2423160"/>
            <a:ext cx="118872" cy="0"/>
          </a:xfrm>
          <a:prstGeom prst="line">
            <a:avLst/>
          </a:prstGeom>
          <a:noFill/>
          <a:ln w="13970">
            <a:solidFill>
              <a:srgbClr val="2E5C8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875520" y="2212848"/>
            <a:ext cx="822960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2E5C8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875520" y="221284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RE-SYNC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0707624" y="2423160"/>
            <a:ext cx="118872" cy="0"/>
          </a:xfrm>
          <a:prstGeom prst="line">
            <a:avLst/>
          </a:prstGeom>
          <a:noFill/>
          <a:ln w="13970">
            <a:solidFill>
              <a:srgbClr val="2E5C8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844784" y="2212848"/>
            <a:ext cx="822960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2E5C8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844784" y="221284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6967728" y="2743200"/>
            <a:ext cx="4718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reading is locked and saved on the device before it is ever sent.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signal returns, only the missing records are uploaded.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84848" y="3986784"/>
            <a:ext cx="5084064" cy="2212848"/>
          </a:xfrm>
          <a:prstGeom prst="roundRect">
            <a:avLst>
              <a:gd name="adj" fmla="val 1240"/>
            </a:avLst>
          </a:prstGeom>
          <a:solidFill>
            <a:srgbClr val="DEEAF6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86016" y="3867912"/>
            <a:ext cx="2130552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986016" y="3849624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967728" y="422452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E7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₹140</a:t>
            </a:r>
            <a:endParaRPr lang="en-US" sz="1900" dirty="0"/>
          </a:p>
        </p:txBody>
      </p:sp>
      <p:sp>
        <p:nvSpPr>
          <p:cNvPr id="42" name="Text 40"/>
          <p:cNvSpPr txBox="1"/>
          <p:nvPr/>
        </p:nvSpPr>
        <p:spPr>
          <a:xfrm>
            <a:off x="8266176" y="4224528"/>
            <a:ext cx="3419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shipment. A throw-away logger costs ₹499.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967728" y="470001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350</a:t>
            </a:r>
            <a:endParaRPr lang="en-US" sz="1900" dirty="0"/>
          </a:p>
        </p:txBody>
      </p:sp>
      <p:sp>
        <p:nvSpPr>
          <p:cNvPr id="44" name="Text 42"/>
          <p:cNvSpPr txBox="1"/>
          <p:nvPr/>
        </p:nvSpPr>
        <p:spPr>
          <a:xfrm>
            <a:off x="8266176" y="4700016"/>
            <a:ext cx="3419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recovered after 29 hours with no signal.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967728" y="517550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 yr</a:t>
            </a:r>
            <a:endParaRPr lang="en-US" sz="1900" dirty="0"/>
          </a:p>
        </p:txBody>
      </p:sp>
      <p:sp>
        <p:nvSpPr>
          <p:cNvPr id="46" name="Text 44"/>
          <p:cNvSpPr txBox="1"/>
          <p:nvPr/>
        </p:nvSpPr>
        <p:spPr>
          <a:xfrm>
            <a:off x="8266176" y="5175504"/>
            <a:ext cx="3419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life, kept topped up by solar.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6967728" y="565099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900" dirty="0"/>
          </a:p>
        </p:txBody>
      </p:sp>
      <p:sp>
        <p:nvSpPr>
          <p:cNvPr id="48" name="Text 46"/>
          <p:cNvSpPr txBox="1"/>
          <p:nvPr/>
        </p:nvSpPr>
        <p:spPr>
          <a:xfrm>
            <a:off x="8266176" y="5650992"/>
            <a:ext cx="3419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before any reading is trusted.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84048" y="5358384"/>
            <a:ext cx="6144768" cy="786384"/>
          </a:xfrm>
          <a:prstGeom prst="roundRect">
            <a:avLst>
              <a:gd name="adj" fmla="val 3488"/>
            </a:avLst>
          </a:prstGeom>
          <a:solidFill>
            <a:srgbClr val="F2F7FC"/>
          </a:solidFill>
          <a:ln w="11430">
            <a:solidFill>
              <a:srgbClr val="2E5C8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85216" y="5358384"/>
            <a:ext cx="5760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first, transmit second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so a stretch of road with no signal never becomes a hole in the cold-chain record.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182880"/>
            <a:ext cx="1115568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E9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10896" y="182880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</a:t>
            </a:r>
            <a:endParaRPr lang="en-US" sz="8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182880"/>
            <a:ext cx="8869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ANNACHAIN — THE IDEA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10896" y="896112"/>
            <a:ext cx="1156716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391656"/>
            <a:ext cx="12191695" cy="347472"/>
          </a:xfrm>
          <a:prstGeom prst="rect">
            <a:avLst/>
          </a:prstGeom>
          <a:solidFill>
            <a:srgbClr val="1F6FB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0" y="6391656"/>
            <a:ext cx="4873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39165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" y="1115568"/>
            <a:ext cx="5532120" cy="2761488"/>
          </a:xfrm>
          <a:prstGeom prst="roundRect">
            <a:avLst>
              <a:gd name="adj" fmla="val 993"/>
            </a:avLst>
          </a:prstGeom>
          <a:solidFill>
            <a:srgbClr val="DEEAF6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" y="996696"/>
            <a:ext cx="3986784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2064" y="978408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 - AnnaChain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" y="1316736"/>
            <a:ext cx="5166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AnnaChain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low-cost, rugged, solar-powered sensor box that rides with the crate. It measures </a:t>
            </a:r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humidity and ethylene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locks every reading, and keeps working when the network is gone.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054096" y="2084832"/>
            <a:ext cx="0" cy="1554480"/>
          </a:xfrm>
          <a:prstGeom prst="line">
            <a:avLst/>
          </a:prstGeom>
          <a:noFill/>
          <a:ln w="9525">
            <a:solidFill>
              <a:srgbClr val="2E5C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" y="2167128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6656" y="2075688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sensors in one box — temperature, humidity, ethylene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3776" y="2551176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" y="2459736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Tamper, movement and battery health as well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3776" y="2935224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6656" y="2843784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chip signs each reading inside the device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3776" y="3319272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6656" y="3227832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panel keeps the battery charged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18688" y="2167128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401568" y="2075688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to flash first, sends afterwards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18688" y="2551176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01568" y="2459736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gateway per truck over LoRa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18688" y="2935224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401568" y="2843784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only the records the server is missing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18688" y="3319272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401568" y="3227832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written to a tamper-evident ledger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10896" y="4041648"/>
            <a:ext cx="5532120" cy="2157984"/>
          </a:xfrm>
          <a:prstGeom prst="roundRect">
            <a:avLst>
              <a:gd name="adj" fmla="val 1271"/>
            </a:avLst>
          </a:prstGeom>
          <a:solidFill>
            <a:srgbClr val="DEEAF6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064" y="3922776"/>
            <a:ext cx="2660904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12064" y="3904488"/>
            <a:ext cx="2660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Impact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93776" y="4261104"/>
            <a:ext cx="1481328" cy="310896"/>
          </a:xfrm>
          <a:prstGeom prst="roundRect">
            <a:avLst>
              <a:gd name="adj" fmla="val 8824"/>
            </a:avLst>
          </a:prstGeom>
          <a:solidFill>
            <a:srgbClr val="1F6FB5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93776" y="426110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&amp; FPOs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2084832" y="426110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traced to the grower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3776" y="4700016"/>
            <a:ext cx="1481328" cy="310896"/>
          </a:xfrm>
          <a:prstGeom prst="roundRect">
            <a:avLst>
              <a:gd name="adj" fmla="val 8824"/>
            </a:avLst>
          </a:prstGeom>
          <a:solidFill>
            <a:srgbClr val="1F6FB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93776" y="470001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Exporters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2084832" y="470001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foreign buyers accept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93776" y="5138928"/>
            <a:ext cx="1481328" cy="310896"/>
          </a:xfrm>
          <a:prstGeom prst="roundRect">
            <a:avLst>
              <a:gd name="adj" fmla="val 8824"/>
            </a:avLst>
          </a:prstGeom>
          <a:solidFill>
            <a:srgbClr val="1F6FB5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93776" y="513892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Transporters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084832" y="513892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alert while the truck can still be fixed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93776" y="5577840"/>
            <a:ext cx="1481328" cy="310896"/>
          </a:xfrm>
          <a:prstGeom prst="roundRect">
            <a:avLst>
              <a:gd name="adj" fmla="val 8824"/>
            </a:avLst>
          </a:prstGeom>
          <a:solidFill>
            <a:srgbClr val="1F6FB5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93776" y="557784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FSSAI / APEDA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2084832" y="557784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only the affected pallets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989320" y="1115568"/>
            <a:ext cx="2788920" cy="2761488"/>
          </a:xfrm>
          <a:prstGeom prst="roundRect">
            <a:avLst>
              <a:gd name="adj" fmla="val 993"/>
            </a:avLst>
          </a:prstGeom>
          <a:solidFill>
            <a:srgbClr val="F2F7FC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90488" y="996696"/>
            <a:ext cx="242316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190488" y="9784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for Solution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144768" y="1417320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327648" y="1325880"/>
            <a:ext cx="23042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India's cold chain is run by small operators who buy nothing today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144768" y="2039112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327648" y="1947672"/>
            <a:ext cx="23042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of export rejections are paperwork, handling and temperature — not pesticides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144768" y="2660904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327648" y="2569464"/>
            <a:ext cx="23042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reefer trucks exist against 62,000 needed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144768" y="3282696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6327648" y="3191256"/>
            <a:ext cx="23042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5-15% of fruit and vegetables lost after harvest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924544" y="1115568"/>
            <a:ext cx="2944368" cy="2761488"/>
          </a:xfrm>
          <a:prstGeom prst="roundRect">
            <a:avLst>
              <a:gd name="adj" fmla="val 993"/>
            </a:avLst>
          </a:prstGeom>
          <a:solidFill>
            <a:srgbClr val="F2F7FC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125712" y="996696"/>
            <a:ext cx="16002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9125712" y="97840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Uniqueness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9070848" y="1353312"/>
            <a:ext cx="1060704" cy="457200"/>
          </a:xfrm>
          <a:prstGeom prst="roundRect">
            <a:avLst>
              <a:gd name="adj" fmla="val 6000"/>
            </a:avLst>
          </a:prstGeom>
          <a:solidFill>
            <a:srgbClr val="1F6FB5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9070848" y="1353312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first,</a:t>
            </a:r>
            <a:endParaRPr lang="en-US" sz="800" dirty="0"/>
          </a:p>
          <a:p>
            <a:pPr algn="ctr"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second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10241280" y="1353312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lost link cannot create a gap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9070848" y="1956816"/>
            <a:ext cx="1060704" cy="457200"/>
          </a:xfrm>
          <a:prstGeom prst="roundRect">
            <a:avLst>
              <a:gd name="adj" fmla="val 6000"/>
            </a:avLst>
          </a:prstGeom>
          <a:solidFill>
            <a:srgbClr val="1F6FB5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9070848" y="1956816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Two-level</a:t>
            </a:r>
            <a:endParaRPr lang="en-US" sz="800" dirty="0"/>
          </a:p>
          <a:p>
            <a:pPr algn="ctr"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800" dirty="0"/>
          </a:p>
        </p:txBody>
      </p:sp>
      <p:sp>
        <p:nvSpPr>
          <p:cNvPr id="64" name="Text 62"/>
          <p:cNvSpPr txBox="1"/>
          <p:nvPr/>
        </p:nvSpPr>
        <p:spPr>
          <a:xfrm>
            <a:off x="10241280" y="1956816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saves, gateway saves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9070848" y="2560320"/>
            <a:ext cx="1060704" cy="457200"/>
          </a:xfrm>
          <a:prstGeom prst="roundRect">
            <a:avLst>
              <a:gd name="adj" fmla="val 6000"/>
            </a:avLst>
          </a:prstGeom>
          <a:solidFill>
            <a:srgbClr val="1F6FB5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9070848" y="256032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before</a:t>
            </a:r>
            <a:endParaRPr lang="en-US" sz="800" dirty="0"/>
          </a:p>
          <a:p>
            <a:pPr algn="ctr"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store</a:t>
            </a:r>
            <a:endParaRPr lang="en-US" sz="800" dirty="0"/>
          </a:p>
        </p:txBody>
      </p:sp>
      <p:sp>
        <p:nvSpPr>
          <p:cNvPr id="67" name="Text 65"/>
          <p:cNvSpPr txBox="1"/>
          <p:nvPr/>
        </p:nvSpPr>
        <p:spPr>
          <a:xfrm>
            <a:off x="10241280" y="256032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tests before a reading is believed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070848" y="3163824"/>
            <a:ext cx="1060704" cy="457200"/>
          </a:xfrm>
          <a:prstGeom prst="roundRect">
            <a:avLst>
              <a:gd name="adj" fmla="val 6000"/>
            </a:avLst>
          </a:prstGeom>
          <a:solidFill>
            <a:srgbClr val="1F6FB5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9070848" y="3163824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watch</a:t>
            </a:r>
            <a:endParaRPr lang="en-US" sz="800" dirty="0"/>
          </a:p>
          <a:p>
            <a:pPr algn="ctr"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other</a:t>
            </a:r>
            <a:endParaRPr lang="en-US" sz="800" dirty="0"/>
          </a:p>
        </p:txBody>
      </p:sp>
      <p:sp>
        <p:nvSpPr>
          <p:cNvPr id="70" name="Text 68"/>
          <p:cNvSpPr txBox="1"/>
          <p:nvPr/>
        </p:nvSpPr>
        <p:spPr>
          <a:xfrm>
            <a:off x="10241280" y="3163824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faulty sensor is flagged, not called spoilage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8924544" y="4041648"/>
            <a:ext cx="2944368" cy="2157984"/>
          </a:xfrm>
          <a:prstGeom prst="roundRect">
            <a:avLst>
              <a:gd name="adj" fmla="val 1271"/>
            </a:avLst>
          </a:prstGeom>
          <a:solidFill>
            <a:srgbClr val="F2F7FC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125712" y="3922776"/>
            <a:ext cx="2578608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9125712" y="390448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Level Overview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9089136" y="4224528"/>
            <a:ext cx="2615184" cy="365760"/>
          </a:xfrm>
          <a:prstGeom prst="roundRect">
            <a:avLst>
              <a:gd name="adj" fmla="val 7500"/>
            </a:avLst>
          </a:prstGeom>
          <a:solidFill>
            <a:srgbClr val="1F6FB5"/>
          </a:solidFill>
          <a:ln w="15875">
            <a:solidFill>
              <a:srgbClr val="1F6FB5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089136" y="4251960"/>
            <a:ext cx="2615184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CRATE NODES</a:t>
            </a:r>
            <a:endParaRPr lang="en-US" sz="850" dirty="0"/>
          </a:p>
        </p:txBody>
      </p:sp>
      <p:sp>
        <p:nvSpPr>
          <p:cNvPr id="76" name="Text 74"/>
          <p:cNvSpPr txBox="1"/>
          <p:nvPr/>
        </p:nvSpPr>
        <p:spPr>
          <a:xfrm>
            <a:off x="9089136" y="4422038"/>
            <a:ext cx="2615184" cy="160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· sensors · secure chip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10396728" y="4590288"/>
            <a:ext cx="0" cy="91440"/>
          </a:xfrm>
          <a:prstGeom prst="line">
            <a:avLst/>
          </a:prstGeom>
          <a:noFill/>
          <a:ln w="13970">
            <a:solidFill>
              <a:srgbClr val="2E5C8A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9089136" y="4700016"/>
            <a:ext cx="2615184" cy="3657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2E5C8A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9089136" y="4727448"/>
            <a:ext cx="2615184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GATEWAY</a:t>
            </a:r>
            <a:endParaRPr lang="en-US" sz="850" dirty="0"/>
          </a:p>
        </p:txBody>
      </p:sp>
      <p:sp>
        <p:nvSpPr>
          <p:cNvPr id="80" name="Text 78"/>
          <p:cNvSpPr txBox="1"/>
          <p:nvPr/>
        </p:nvSpPr>
        <p:spPr>
          <a:xfrm>
            <a:off x="9089136" y="4897526"/>
            <a:ext cx="2615184" cy="160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in · Wi-Fi / 4G out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10396728" y="5065776"/>
            <a:ext cx="0" cy="91440"/>
          </a:xfrm>
          <a:prstGeom prst="line">
            <a:avLst/>
          </a:prstGeom>
          <a:noFill/>
          <a:ln w="13970">
            <a:solidFill>
              <a:srgbClr val="2E5C8A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9089136" y="5175504"/>
            <a:ext cx="2615184" cy="3657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2E5C8A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9089136" y="5202936"/>
            <a:ext cx="2615184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850" dirty="0"/>
          </a:p>
        </p:txBody>
      </p:sp>
      <p:sp>
        <p:nvSpPr>
          <p:cNvPr id="84" name="Text 82"/>
          <p:cNvSpPr txBox="1"/>
          <p:nvPr/>
        </p:nvSpPr>
        <p:spPr>
          <a:xfrm>
            <a:off x="9089136" y="5373014"/>
            <a:ext cx="2615184" cy="160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checks, then stored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10396728" y="5541264"/>
            <a:ext cx="0" cy="91440"/>
          </a:xfrm>
          <a:prstGeom prst="line">
            <a:avLst/>
          </a:prstGeom>
          <a:noFill/>
          <a:ln w="13970">
            <a:solidFill>
              <a:srgbClr val="2E5C8A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9089136" y="5650992"/>
            <a:ext cx="2615184" cy="3657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2E5C8A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9089136" y="5678424"/>
            <a:ext cx="2615184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+ AI</a:t>
            </a:r>
            <a:endParaRPr lang="en-US" sz="850" dirty="0"/>
          </a:p>
        </p:txBody>
      </p:sp>
      <p:sp>
        <p:nvSpPr>
          <p:cNvPr id="88" name="Text 86"/>
          <p:cNvSpPr txBox="1"/>
          <p:nvPr/>
        </p:nvSpPr>
        <p:spPr>
          <a:xfrm>
            <a:off x="9089136" y="5848502"/>
            <a:ext cx="2615184" cy="160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· shelf-life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5989320" y="4041648"/>
            <a:ext cx="2788920" cy="2157984"/>
          </a:xfrm>
          <a:prstGeom prst="roundRect">
            <a:avLst>
              <a:gd name="adj" fmla="val 1271"/>
            </a:avLst>
          </a:prstGeom>
          <a:solidFill>
            <a:srgbClr val="F2F7FC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190488" y="3922776"/>
            <a:ext cx="1997964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6190488" y="3904488"/>
            <a:ext cx="19979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Runs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6144768" y="4325112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6327648" y="4233672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gate and pack-house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6144768" y="4727448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6327648" y="463600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Reefer truck and open truck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6144768" y="5129784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97" name="Text 95"/>
          <p:cNvSpPr txBox="1"/>
          <p:nvPr/>
        </p:nvSpPr>
        <p:spPr>
          <a:xfrm>
            <a:off x="6327648" y="5038344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store and mandi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6144768" y="5532120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6327648" y="544068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Port, and the buyer's receiving dock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182880"/>
            <a:ext cx="1115568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E9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10896" y="182880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</a:t>
            </a:r>
            <a:endParaRPr lang="en-US" sz="8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182880"/>
            <a:ext cx="8869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10896" y="896112"/>
            <a:ext cx="1156716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391656"/>
            <a:ext cx="12191695" cy="347472"/>
          </a:xfrm>
          <a:prstGeom prst="rect">
            <a:avLst/>
          </a:prstGeom>
          <a:solidFill>
            <a:srgbClr val="1F6FB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0" y="6391656"/>
            <a:ext cx="4873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39165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" y="1115568"/>
            <a:ext cx="11567160" cy="4041648"/>
          </a:xfrm>
          <a:prstGeom prst="roundRect">
            <a:avLst>
              <a:gd name="adj" fmla="val 679"/>
            </a:avLst>
          </a:prstGeom>
          <a:solidFill>
            <a:srgbClr val="DEEAF6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" y="996696"/>
            <a:ext cx="6771132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2064" y="978408"/>
            <a:ext cx="67711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Flow — and What Happens With No Signal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33502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CRATE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0352" y="1591056"/>
            <a:ext cx="233172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2E5C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0352" y="1618488"/>
            <a:ext cx="2331720" cy="222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ON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530352" y="1798442"/>
            <a:ext cx="2331720" cy="168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self-test · NFC links it to the shipment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30352" y="2084832"/>
            <a:ext cx="233172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2E5C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" y="2112264"/>
            <a:ext cx="2331720" cy="222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every 5 min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30352" y="2292218"/>
            <a:ext cx="2331720" cy="168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· humidity · ethylene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" y="257860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· movement · battery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30352" y="2852928"/>
            <a:ext cx="2331720" cy="384048"/>
          </a:xfrm>
          <a:prstGeom prst="roundRect">
            <a:avLst>
              <a:gd name="adj" fmla="val 7143"/>
            </a:avLst>
          </a:prstGeom>
          <a:solidFill>
            <a:srgbClr val="1F6FB5"/>
          </a:solidFill>
          <a:ln w="15875">
            <a:solidFill>
              <a:srgbClr val="1F6FB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0352" y="2880360"/>
            <a:ext cx="2331720" cy="222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+ ENCRYPT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530352" y="3060314"/>
            <a:ext cx="2331720" cy="168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chip, inside the device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30352" y="3383280"/>
            <a:ext cx="2331720" cy="384048"/>
          </a:xfrm>
          <a:prstGeom prst="roundRect">
            <a:avLst>
              <a:gd name="adj" fmla="val 7143"/>
            </a:avLst>
          </a:prstGeom>
          <a:solidFill>
            <a:srgbClr val="1F6FB5"/>
          </a:solidFill>
          <a:ln w="15875">
            <a:solidFill>
              <a:srgbClr val="1F6FB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0352" y="3410712"/>
            <a:ext cx="2331720" cy="222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ON THE DEVICE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530352" y="3590666"/>
            <a:ext cx="2331720" cy="168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flash, before any radio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889504" y="3575304"/>
            <a:ext cx="201168" cy="0"/>
          </a:xfrm>
          <a:prstGeom prst="line">
            <a:avLst/>
          </a:prstGeom>
          <a:noFill/>
          <a:ln w="13970">
            <a:solidFill>
              <a:srgbClr val="2E5C8A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3145536" y="1335024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SIGNAL?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03904" y="3291840"/>
            <a:ext cx="1481328" cy="56692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803904" y="329184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SIGNAL?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145536" y="1847088"/>
            <a:ext cx="2395728" cy="1170432"/>
          </a:xfrm>
          <a:prstGeom prst="roundRect">
            <a:avLst>
              <a:gd name="adj" fmla="val 2344"/>
            </a:avLst>
          </a:prstGeom>
          <a:solidFill>
            <a:srgbClr val="FBE4D5"/>
          </a:solidFill>
          <a:ln w="12700">
            <a:solidFill>
              <a:srgbClr val="C0500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145536" y="1920240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5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10128" y="2240280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493008" y="214884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sensing and saving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310128" y="2496312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493008" y="2404872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1001 … 1350 held in flash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310128" y="2752344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493008" y="2660904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90 days of storage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343400" y="3291840"/>
            <a:ext cx="0" cy="-274320"/>
          </a:xfrm>
          <a:prstGeom prst="line">
            <a:avLst/>
          </a:prstGeom>
          <a:noFill/>
          <a:ln w="13970">
            <a:solidFill>
              <a:srgbClr val="C0500F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632704" y="1847088"/>
            <a:ext cx="2395728" cy="1170432"/>
          </a:xfrm>
          <a:prstGeom prst="roundRect">
            <a:avLst>
              <a:gd name="adj" fmla="val 2344"/>
            </a:avLst>
          </a:prstGeom>
          <a:solidFill>
            <a:srgbClr val="E2EFDA"/>
          </a:solidFill>
          <a:ln w="12700">
            <a:solidFill>
              <a:srgbClr val="1E714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632704" y="1920240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PRESENT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797296" y="2240280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980176" y="214884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to the shared gateway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797296" y="2496312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980176" y="2404872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sends over MQTT/TLS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797296" y="2752344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980176" y="2660904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Wi-Fi, or 4G where there is none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285232" y="3575304"/>
            <a:ext cx="1463040" cy="0"/>
          </a:xfrm>
          <a:prstGeom prst="line">
            <a:avLst/>
          </a:prstGeom>
          <a:noFill/>
          <a:ln w="13970">
            <a:solidFill>
              <a:srgbClr val="1E714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48272" y="3575304"/>
            <a:ext cx="0" cy="-365760"/>
          </a:xfrm>
          <a:prstGeom prst="line">
            <a:avLst/>
          </a:prstGeom>
          <a:noFill/>
          <a:ln w="13970">
            <a:solidFill>
              <a:srgbClr val="1E7145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310128" y="3017520"/>
            <a:ext cx="0" cy="1042416"/>
          </a:xfrm>
          <a:prstGeom prst="line">
            <a:avLst/>
          </a:prstGeom>
          <a:noFill/>
          <a:ln w="13970">
            <a:solidFill>
              <a:srgbClr val="C0500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10128" y="4059936"/>
            <a:ext cx="4352544" cy="0"/>
          </a:xfrm>
          <a:prstGeom prst="line">
            <a:avLst/>
          </a:prstGeom>
          <a:noFill/>
          <a:ln w="13970">
            <a:solidFill>
              <a:srgbClr val="C0500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662672" y="4059936"/>
            <a:ext cx="0" cy="-1042416"/>
          </a:xfrm>
          <a:prstGeom prst="line">
            <a:avLst/>
          </a:prstGeom>
          <a:noFill/>
          <a:ln w="13970">
            <a:solidFill>
              <a:srgbClr val="C0500F"/>
            </a:solidFill>
            <a:prstDash val="solid"/>
            <a:tailEnd type="triangle"/>
          </a:ln>
        </p:spPr>
      </p:sp>
      <p:sp>
        <p:nvSpPr>
          <p:cNvPr id="52" name="Text 50"/>
          <p:cNvSpPr txBox="1"/>
          <p:nvPr/>
        </p:nvSpPr>
        <p:spPr>
          <a:xfrm>
            <a:off x="3931920" y="38404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5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signal returns, only the missing records go up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8321040" y="133502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SERVER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321040" y="1591056"/>
            <a:ext cx="3337560" cy="384048"/>
          </a:xfrm>
          <a:prstGeom prst="roundRect">
            <a:avLst>
              <a:gd name="adj" fmla="val 7143"/>
            </a:avLst>
          </a:prstGeom>
          <a:solidFill>
            <a:srgbClr val="1F6FB5"/>
          </a:solidFill>
          <a:ln w="15875">
            <a:solidFill>
              <a:srgbClr val="1F6FB5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321040" y="159105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CHECKS BEFORE ANYTHING IS STORED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8321040" y="2066544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8540496" y="2066544"/>
            <a:ext cx="31089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device registered?</a:t>
            </a:r>
            <a:endParaRPr 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8321040" y="2281428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8540496" y="2281428"/>
            <a:ext cx="31089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signature valid?</a:t>
            </a:r>
            <a:endParaRPr 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8321040" y="2496312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8540496" y="2496312"/>
            <a:ext cx="31089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sequence correct?</a:t>
            </a:r>
            <a:endParaRPr lang="en-US" sz="850" dirty="0"/>
          </a:p>
        </p:txBody>
      </p:sp>
      <p:sp>
        <p:nvSpPr>
          <p:cNvPr id="62" name="Text 60"/>
          <p:cNvSpPr txBox="1"/>
          <p:nvPr/>
        </p:nvSpPr>
        <p:spPr>
          <a:xfrm>
            <a:off x="8321040" y="2711196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8540496" y="2711196"/>
            <a:ext cx="31089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 duplicate or replay?</a:t>
            </a:r>
            <a:endParaRPr lang="en-US" sz="850" dirty="0"/>
          </a:p>
        </p:txBody>
      </p:sp>
      <p:sp>
        <p:nvSpPr>
          <p:cNvPr id="64" name="Text 62"/>
          <p:cNvSpPr txBox="1"/>
          <p:nvPr/>
        </p:nvSpPr>
        <p:spPr>
          <a:xfrm>
            <a:off x="8321040" y="2926080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8540496" y="2926080"/>
            <a:ext cx="31089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timestamp sensible?</a:t>
            </a:r>
            <a:endParaRPr lang="en-US" sz="850" dirty="0"/>
          </a:p>
        </p:txBody>
      </p:sp>
      <p:sp>
        <p:nvSpPr>
          <p:cNvPr id="66" name="Text 64"/>
          <p:cNvSpPr txBox="1"/>
          <p:nvPr/>
        </p:nvSpPr>
        <p:spPr>
          <a:xfrm>
            <a:off x="8321040" y="3140964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7" name="Text 65"/>
          <p:cNvSpPr txBox="1"/>
          <p:nvPr/>
        </p:nvSpPr>
        <p:spPr>
          <a:xfrm>
            <a:off x="8540496" y="3140964"/>
            <a:ext cx="31089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hash chain unbroken?</a:t>
            </a:r>
            <a:endParaRPr lang="en-US" sz="850" dirty="0"/>
          </a:p>
        </p:txBody>
      </p:sp>
      <p:sp>
        <p:nvSpPr>
          <p:cNvPr id="68" name="Text 66"/>
          <p:cNvSpPr txBox="1"/>
          <p:nvPr/>
        </p:nvSpPr>
        <p:spPr>
          <a:xfrm>
            <a:off x="8321040" y="3355848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8540496" y="3355848"/>
            <a:ext cx="31089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calibration still valid?</a:t>
            </a:r>
            <a:endParaRPr lang="en-US" sz="850" dirty="0"/>
          </a:p>
        </p:txBody>
      </p:sp>
      <p:sp>
        <p:nvSpPr>
          <p:cNvPr id="70" name="Text 68"/>
          <p:cNvSpPr txBox="1"/>
          <p:nvPr/>
        </p:nvSpPr>
        <p:spPr>
          <a:xfrm>
            <a:off x="8321040" y="3570732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1" name="Text 69"/>
          <p:cNvSpPr txBox="1"/>
          <p:nvPr/>
        </p:nvSpPr>
        <p:spPr>
          <a:xfrm>
            <a:off x="8540496" y="3570732"/>
            <a:ext cx="31089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sensor healthy?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9985248" y="3803904"/>
            <a:ext cx="0" cy="128016"/>
          </a:xfrm>
          <a:prstGeom prst="line">
            <a:avLst/>
          </a:prstGeom>
          <a:noFill/>
          <a:ln w="13970">
            <a:solidFill>
              <a:srgbClr val="2E5C8A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8321040" y="3950208"/>
            <a:ext cx="1572768" cy="3657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2E5C8A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8321040" y="3977640"/>
            <a:ext cx="1572768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Engine</a:t>
            </a:r>
            <a:endParaRPr lang="en-US" sz="850" dirty="0"/>
          </a:p>
        </p:txBody>
      </p:sp>
      <p:sp>
        <p:nvSpPr>
          <p:cNvPr id="75" name="Text 73"/>
          <p:cNvSpPr txBox="1"/>
          <p:nvPr/>
        </p:nvSpPr>
        <p:spPr>
          <a:xfrm>
            <a:off x="8321040" y="4147718"/>
            <a:ext cx="1572768" cy="160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kinetics · rule-based classification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10085832" y="3950208"/>
            <a:ext cx="1572768" cy="3657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2E5C8A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10085832" y="3977640"/>
            <a:ext cx="1572768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850" dirty="0"/>
          </a:p>
        </p:txBody>
      </p:sp>
      <p:sp>
        <p:nvSpPr>
          <p:cNvPr id="78" name="Text 76"/>
          <p:cNvSpPr txBox="1"/>
          <p:nvPr/>
        </p:nvSpPr>
        <p:spPr>
          <a:xfrm>
            <a:off x="10085832" y="4147718"/>
            <a:ext cx="1572768" cy="160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· GS1 EPCIS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9107424" y="4315968"/>
            <a:ext cx="0" cy="109728"/>
          </a:xfrm>
          <a:prstGeom prst="line">
            <a:avLst/>
          </a:prstGeom>
          <a:noFill/>
          <a:ln w="13970">
            <a:solidFill>
              <a:srgbClr val="2E5C8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872216" y="4315968"/>
            <a:ext cx="0" cy="109728"/>
          </a:xfrm>
          <a:prstGeom prst="line">
            <a:avLst/>
          </a:prstGeom>
          <a:noFill/>
          <a:ln w="13970">
            <a:solidFill>
              <a:srgbClr val="2E5C8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107424" y="4425696"/>
            <a:ext cx="1764792" cy="0"/>
          </a:xfrm>
          <a:prstGeom prst="line">
            <a:avLst/>
          </a:prstGeom>
          <a:noFill/>
          <a:ln w="13970">
            <a:solidFill>
              <a:srgbClr val="2E5C8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985248" y="4425696"/>
            <a:ext cx="0" cy="128016"/>
          </a:xfrm>
          <a:prstGeom prst="line">
            <a:avLst/>
          </a:prstGeom>
          <a:noFill/>
          <a:ln w="13970">
            <a:solidFill>
              <a:srgbClr val="2E5C8A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8321040" y="4572000"/>
            <a:ext cx="3337560" cy="34747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2E5C8A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8321040" y="45720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ALERTS · REPORTS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530352" y="4261104"/>
            <a:ext cx="7498080" cy="786384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2E5C8A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658368" y="43342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ONE RECORD CARRIES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658368" y="4590288"/>
            <a:ext cx="841248" cy="256032"/>
          </a:xfrm>
          <a:prstGeom prst="roundRect">
            <a:avLst>
              <a:gd name="adj" fmla="val 7143"/>
            </a:avLst>
          </a:prstGeom>
          <a:solidFill>
            <a:srgbClr val="F2F7FC"/>
          </a:solidFill>
          <a:ln w="7620">
            <a:solidFill>
              <a:srgbClr val="B9CBDD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58368" y="459028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no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1572768" y="4590288"/>
            <a:ext cx="841248" cy="256032"/>
          </a:xfrm>
          <a:prstGeom prst="roundRect">
            <a:avLst>
              <a:gd name="adj" fmla="val 7143"/>
            </a:avLst>
          </a:prstGeom>
          <a:solidFill>
            <a:srgbClr val="F2F7FC"/>
          </a:solidFill>
          <a:ln w="7620">
            <a:solidFill>
              <a:srgbClr val="B9CBDD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1572768" y="459028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2487168" y="4590288"/>
            <a:ext cx="841248" cy="256032"/>
          </a:xfrm>
          <a:prstGeom prst="roundRect">
            <a:avLst>
              <a:gd name="adj" fmla="val 7143"/>
            </a:avLst>
          </a:prstGeom>
          <a:solidFill>
            <a:srgbClr val="F2F7FC"/>
          </a:solidFill>
          <a:ln w="7620">
            <a:solidFill>
              <a:srgbClr val="B9CBDD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2487168" y="459028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3401568" y="4590288"/>
            <a:ext cx="841248" cy="256032"/>
          </a:xfrm>
          <a:prstGeom prst="roundRect">
            <a:avLst>
              <a:gd name="adj" fmla="val 7143"/>
            </a:avLst>
          </a:prstGeom>
          <a:solidFill>
            <a:srgbClr val="F2F7FC"/>
          </a:solidFill>
          <a:ln w="7620">
            <a:solidFill>
              <a:srgbClr val="B9CBDD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3401568" y="459028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4315968" y="4590288"/>
            <a:ext cx="841248" cy="256032"/>
          </a:xfrm>
          <a:prstGeom prst="roundRect">
            <a:avLst>
              <a:gd name="adj" fmla="val 7143"/>
            </a:avLst>
          </a:prstGeom>
          <a:solidFill>
            <a:srgbClr val="F2F7FC"/>
          </a:solidFill>
          <a:ln w="7620">
            <a:solidFill>
              <a:srgbClr val="B9CBDD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4315968" y="459028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ethylene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5230368" y="4590288"/>
            <a:ext cx="841248" cy="256032"/>
          </a:xfrm>
          <a:prstGeom prst="roundRect">
            <a:avLst>
              <a:gd name="adj" fmla="val 7143"/>
            </a:avLst>
          </a:prstGeom>
          <a:solidFill>
            <a:srgbClr val="F2F7FC"/>
          </a:solidFill>
          <a:ln w="7620">
            <a:solidFill>
              <a:srgbClr val="B9CBDD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5230368" y="459028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6144768" y="4590288"/>
            <a:ext cx="841248" cy="256032"/>
          </a:xfrm>
          <a:prstGeom prst="roundRect">
            <a:avLst>
              <a:gd name="adj" fmla="val 7143"/>
            </a:avLst>
          </a:prstGeom>
          <a:solidFill>
            <a:srgbClr val="F2F7FC"/>
          </a:solidFill>
          <a:ln w="7620">
            <a:solidFill>
              <a:srgbClr val="B9CBDD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6144768" y="459028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7059168" y="4590288"/>
            <a:ext cx="841248" cy="256032"/>
          </a:xfrm>
          <a:prstGeom prst="roundRect">
            <a:avLst>
              <a:gd name="adj" fmla="val 7143"/>
            </a:avLst>
          </a:prstGeom>
          <a:solidFill>
            <a:srgbClr val="E2EFDA"/>
          </a:solidFill>
          <a:ln w="7620">
            <a:solidFill>
              <a:srgbClr val="1E7145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7059168" y="459028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800" dirty="0"/>
          </a:p>
        </p:txBody>
      </p:sp>
      <p:sp>
        <p:nvSpPr>
          <p:cNvPr id="103" name="Text 101"/>
          <p:cNvSpPr txBox="1"/>
          <p:nvPr/>
        </p:nvSpPr>
        <p:spPr>
          <a:xfrm>
            <a:off x="3931920" y="4334256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plus the hash of the record before it. Delete one reading and the chain visibly breaks.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310896" y="5321808"/>
            <a:ext cx="11567160" cy="877824"/>
          </a:xfrm>
          <a:prstGeom prst="roundRect">
            <a:avLst>
              <a:gd name="adj" fmla="val 3125"/>
            </a:avLst>
          </a:prstGeom>
          <a:solidFill>
            <a:srgbClr val="F2F7FC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12064" y="5202936"/>
            <a:ext cx="16002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512064" y="51846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493776" y="5504688"/>
            <a:ext cx="1115568" cy="274320"/>
          </a:xfrm>
          <a:prstGeom prst="roundRect">
            <a:avLst>
              <a:gd name="adj" fmla="val 10000"/>
            </a:avLst>
          </a:prstGeom>
          <a:solidFill>
            <a:srgbClr val="1F6FB5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493776" y="550468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850" dirty="0"/>
          </a:p>
        </p:txBody>
      </p:sp>
      <p:sp>
        <p:nvSpPr>
          <p:cNvPr id="109" name="Text 107"/>
          <p:cNvSpPr txBox="1"/>
          <p:nvPr/>
        </p:nvSpPr>
        <p:spPr>
          <a:xfrm>
            <a:off x="1737360" y="550468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· SHT40 · ethylene sensor · ATECC608B · SX1262 LoRa · PN532 NFC · solar + battery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493776" y="5852160"/>
            <a:ext cx="1115568" cy="274320"/>
          </a:xfrm>
          <a:prstGeom prst="roundRect">
            <a:avLst>
              <a:gd name="adj" fmla="val 10000"/>
            </a:avLst>
          </a:prstGeom>
          <a:solidFill>
            <a:srgbClr val="1F6FB5"/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493776" y="585216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850" dirty="0"/>
          </a:p>
        </p:txBody>
      </p:sp>
      <p:sp>
        <p:nvSpPr>
          <p:cNvPr id="112" name="Text 110"/>
          <p:cNvSpPr txBox="1"/>
          <p:nvPr/>
        </p:nvSpPr>
        <p:spPr>
          <a:xfrm>
            <a:off x="1737360" y="585216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MQTT/TLS · Node.js · MongoDB · Python · TensorFlow Lite · Hyperledger Fabric · GS1 EPCIS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182880"/>
            <a:ext cx="1115568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E9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10896" y="182880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</a:t>
            </a:r>
            <a:endParaRPr lang="en-US" sz="8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182880"/>
            <a:ext cx="8869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10896" y="896112"/>
            <a:ext cx="1156716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391656"/>
            <a:ext cx="12191695" cy="347472"/>
          </a:xfrm>
          <a:prstGeom prst="rect">
            <a:avLst/>
          </a:prstGeom>
          <a:solidFill>
            <a:srgbClr val="1F6FB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0" y="6391656"/>
            <a:ext cx="4873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39165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" y="1115568"/>
            <a:ext cx="6766560" cy="2103120"/>
          </a:xfrm>
          <a:prstGeom prst="roundRect">
            <a:avLst>
              <a:gd name="adj" fmla="val 1304"/>
            </a:avLst>
          </a:prstGeom>
          <a:solidFill>
            <a:srgbClr val="DEEAF6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" y="996696"/>
            <a:ext cx="3191256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2064" y="978408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Aspects of Feasibility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" y="1335024"/>
            <a:ext cx="2029968" cy="292608"/>
          </a:xfrm>
          <a:prstGeom prst="roundRect">
            <a:avLst>
              <a:gd name="adj" fmla="val 9375"/>
            </a:avLst>
          </a:prstGeom>
          <a:solidFill>
            <a:srgbClr val="1F6FB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3776" y="1335024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3776" y="1719072"/>
            <a:ext cx="2029968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620">
            <a:solidFill>
              <a:srgbClr val="2E5C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171907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 is a catalogue component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93776" y="2176272"/>
            <a:ext cx="2029968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620">
            <a:solidFill>
              <a:srgbClr val="2E5C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217627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IP67 · −20 to +60 °C · ISTA 3E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93776" y="2633472"/>
            <a:ext cx="2029968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620">
            <a:solidFill>
              <a:srgbClr val="2E5C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63347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µA idle · 3.8 year battery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06624" y="1335024"/>
            <a:ext cx="2029968" cy="292608"/>
          </a:xfrm>
          <a:prstGeom prst="roundRect">
            <a:avLst>
              <a:gd name="adj" fmla="val 9375"/>
            </a:avLst>
          </a:prstGeom>
          <a:solidFill>
            <a:srgbClr val="1F6FB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706624" y="1335024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06624" y="1719072"/>
            <a:ext cx="2029968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620">
            <a:solidFill>
              <a:srgbClr val="2E5C8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761488" y="171907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on and tap — no app to learn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06624" y="2176272"/>
            <a:ext cx="2029968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620">
            <a:solidFill>
              <a:srgbClr val="2E5C8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761488" y="217627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gateway serves a whole truck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06624" y="2633472"/>
            <a:ext cx="2029968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620">
            <a:solidFill>
              <a:srgbClr val="2E5C8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761488" y="263347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no signal at all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919472" y="1335024"/>
            <a:ext cx="2029968" cy="292608"/>
          </a:xfrm>
          <a:prstGeom prst="roundRect">
            <a:avLst>
              <a:gd name="adj" fmla="val 9375"/>
            </a:avLst>
          </a:prstGeom>
          <a:solidFill>
            <a:srgbClr val="1F6FB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919472" y="1335024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19472" y="1719072"/>
            <a:ext cx="2029968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620">
            <a:solidFill>
              <a:srgbClr val="2E5C8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74336" y="171907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₹1,839 · gateway ₹3,027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919472" y="2176272"/>
            <a:ext cx="2029968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620">
            <a:solidFill>
              <a:srgbClr val="2E5C8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974336" y="217627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₹140 per shipment, reused 150 times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919472" y="2633472"/>
            <a:ext cx="2029968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620">
            <a:solidFill>
              <a:srgbClr val="2E5C8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974336" y="263347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Indian EMS · PLI eligible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223760" y="1115568"/>
            <a:ext cx="4654296" cy="2103120"/>
          </a:xfrm>
          <a:prstGeom prst="roundRect">
            <a:avLst>
              <a:gd name="adj" fmla="val 1304"/>
            </a:avLst>
          </a:prstGeom>
          <a:solidFill>
            <a:srgbClr val="F2F7FC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24928" y="996696"/>
            <a:ext cx="3323844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424928" y="978408"/>
            <a:ext cx="33238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 &amp; Security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406640" y="1335024"/>
            <a:ext cx="1170432" cy="256032"/>
          </a:xfrm>
          <a:prstGeom prst="roundRect">
            <a:avLst>
              <a:gd name="adj" fmla="val 10714"/>
            </a:avLst>
          </a:prstGeom>
          <a:solidFill>
            <a:srgbClr val="1E7145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406640" y="133502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406640" y="1728216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589520" y="163677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energy harvesting alongside solar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06640" y="2020824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589520" y="19293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Shelf-life prediction validated per commodity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406640" y="2304288"/>
            <a:ext cx="1170432" cy="256032"/>
          </a:xfrm>
          <a:prstGeom prst="roundRect">
            <a:avLst>
              <a:gd name="adj" fmla="val 10714"/>
            </a:avLst>
          </a:prstGeom>
          <a:solidFill>
            <a:srgbClr val="1F3864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406640" y="230428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406640" y="2697480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589520" y="26060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in the device — the server cannot forge a reading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406640" y="2990088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589520" y="28986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at rest and in transit · EN 13486 calibration enforced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10896" y="3383280"/>
            <a:ext cx="6766560" cy="2834640"/>
          </a:xfrm>
          <a:prstGeom prst="roundRect">
            <a:avLst>
              <a:gd name="adj" fmla="val 968"/>
            </a:avLst>
          </a:prstGeom>
          <a:solidFill>
            <a:srgbClr val="DEEAF6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2064" y="3264408"/>
            <a:ext cx="5843016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512064" y="3246120"/>
            <a:ext cx="5843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Potential Challenges, Risks and Mitigation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493776" y="3584448"/>
            <a:ext cx="2029968" cy="27432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493776" y="358444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706624" y="3584448"/>
            <a:ext cx="2029968" cy="274320"/>
          </a:xfrm>
          <a:prstGeom prst="roundRect">
            <a:avLst>
              <a:gd name="adj" fmla="val 10000"/>
            </a:avLst>
          </a:prstGeom>
          <a:solidFill>
            <a:srgbClr val="C0500F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2706624" y="358444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919472" y="3584448"/>
            <a:ext cx="2029968" cy="274320"/>
          </a:xfrm>
          <a:prstGeom prst="roundRect">
            <a:avLst>
              <a:gd name="adj" fmla="val 10000"/>
            </a:avLst>
          </a:prstGeom>
          <a:solidFill>
            <a:srgbClr val="1E7145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4919472" y="358444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93776" y="3950208"/>
            <a:ext cx="2029968" cy="402336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2E5C8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39496" y="395020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Ethylene sensor not yet chosen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706624" y="3950208"/>
            <a:ext cx="2029968" cy="402336"/>
          </a:xfrm>
          <a:prstGeom prst="roundRect">
            <a:avLst>
              <a:gd name="adj" fmla="val 4545"/>
            </a:avLst>
          </a:prstGeom>
          <a:solidFill>
            <a:srgbClr val="FBE4D5"/>
          </a:solidFill>
          <a:ln w="6350">
            <a:solidFill>
              <a:srgbClr val="2E5C8A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2752344" y="395020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cost or wrong accuracy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919472" y="3950208"/>
            <a:ext cx="2029968" cy="402336"/>
          </a:xfrm>
          <a:prstGeom prst="roundRect">
            <a:avLst>
              <a:gd name="adj" fmla="val 4545"/>
            </a:avLst>
          </a:prstGeom>
          <a:solidFill>
            <a:srgbClr val="E2EFDA"/>
          </a:solidFill>
          <a:ln w="6350">
            <a:solidFill>
              <a:srgbClr val="2E5C8A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4965192" y="395020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options costed — test, then pick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93776" y="4407408"/>
            <a:ext cx="2029968" cy="402336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2E5C8A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39496" y="440740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mobile signal on the route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706624" y="4407408"/>
            <a:ext cx="2029968" cy="402336"/>
          </a:xfrm>
          <a:prstGeom prst="roundRect">
            <a:avLst>
              <a:gd name="adj" fmla="val 4545"/>
            </a:avLst>
          </a:prstGeom>
          <a:solidFill>
            <a:srgbClr val="FBE4D5"/>
          </a:solidFill>
          <a:ln w="6350">
            <a:solidFill>
              <a:srgbClr val="2E5C8A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2752344" y="440740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nobody can explain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919472" y="4407408"/>
            <a:ext cx="2029968" cy="402336"/>
          </a:xfrm>
          <a:prstGeom prst="roundRect">
            <a:avLst>
              <a:gd name="adj" fmla="val 4545"/>
            </a:avLst>
          </a:prstGeom>
          <a:solidFill>
            <a:srgbClr val="E2EFDA"/>
          </a:solidFill>
          <a:ln w="6350">
            <a:solidFill>
              <a:srgbClr val="2E5C8A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4965192" y="440740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saving; uploads later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93776" y="4864608"/>
            <a:ext cx="2029968" cy="402336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2E5C8A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39496" y="486460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weak inside a steel body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2706624" y="4864608"/>
            <a:ext cx="2029968" cy="402336"/>
          </a:xfrm>
          <a:prstGeom prst="roundRect">
            <a:avLst>
              <a:gd name="adj" fmla="val 4545"/>
            </a:avLst>
          </a:prstGeom>
          <a:solidFill>
            <a:srgbClr val="FBE4D5"/>
          </a:solidFill>
          <a:ln w="6350">
            <a:solidFill>
              <a:srgbClr val="2E5C8A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2752344" y="486460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cannot reach the gateway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919472" y="4864608"/>
            <a:ext cx="2029968" cy="402336"/>
          </a:xfrm>
          <a:prstGeom prst="roundRect">
            <a:avLst>
              <a:gd name="adj" fmla="val 4545"/>
            </a:avLst>
          </a:prstGeom>
          <a:solidFill>
            <a:srgbClr val="E2EFDA"/>
          </a:solidFill>
          <a:ln w="6350">
            <a:solidFill>
              <a:srgbClr val="2E5C8A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4965192" y="486460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sits at the cargo door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93776" y="5321808"/>
            <a:ext cx="2029968" cy="402336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2E5C8A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539496" y="532180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will not charge below 0 °C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706624" y="5321808"/>
            <a:ext cx="2029968" cy="402336"/>
          </a:xfrm>
          <a:prstGeom prst="roundRect">
            <a:avLst>
              <a:gd name="adj" fmla="val 4545"/>
            </a:avLst>
          </a:prstGeom>
          <a:solidFill>
            <a:srgbClr val="FBE4D5"/>
          </a:solidFill>
          <a:ln w="6350">
            <a:solidFill>
              <a:srgbClr val="2E5C8A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2752344" y="532180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on frozen lanes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919472" y="5321808"/>
            <a:ext cx="2029968" cy="402336"/>
          </a:xfrm>
          <a:prstGeom prst="roundRect">
            <a:avLst>
              <a:gd name="adj" fmla="val 4545"/>
            </a:avLst>
          </a:prstGeom>
          <a:solidFill>
            <a:srgbClr val="E2EFDA"/>
          </a:solidFill>
          <a:ln w="6350">
            <a:solidFill>
              <a:srgbClr val="2E5C8A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4965192" y="532180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LiFePO₄, or block charging when frozen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93776" y="5779008"/>
            <a:ext cx="2029968" cy="402336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2E5C8A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539496" y="577900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firms resist new systems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2706624" y="5779008"/>
            <a:ext cx="2029968" cy="402336"/>
          </a:xfrm>
          <a:prstGeom prst="roundRect">
            <a:avLst>
              <a:gd name="adj" fmla="val 4545"/>
            </a:avLst>
          </a:prstGeom>
          <a:solidFill>
            <a:srgbClr val="FBE4D5"/>
          </a:solidFill>
          <a:ln w="6350">
            <a:solidFill>
              <a:srgbClr val="2E5C8A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2752344" y="577900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adopts it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4919472" y="5779008"/>
            <a:ext cx="2029968" cy="402336"/>
          </a:xfrm>
          <a:prstGeom prst="roundRect">
            <a:avLst>
              <a:gd name="adj" fmla="val 4545"/>
            </a:avLst>
          </a:prstGeom>
          <a:solidFill>
            <a:srgbClr val="E2EFDA"/>
          </a:solidFill>
          <a:ln w="6350">
            <a:solidFill>
              <a:srgbClr val="2E5C8A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4965192" y="577900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to learn — switch on and tap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7223760" y="3383280"/>
            <a:ext cx="4654296" cy="2834640"/>
          </a:xfrm>
          <a:prstGeom prst="roundRect">
            <a:avLst>
              <a:gd name="adj" fmla="val 968"/>
            </a:avLst>
          </a:prstGeom>
          <a:solidFill>
            <a:srgbClr val="F2F7FC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424928" y="3264408"/>
            <a:ext cx="4288536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7424928" y="3246120"/>
            <a:ext cx="4288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— What We Will Demonstrate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7406640" y="3639312"/>
            <a:ext cx="256032" cy="256032"/>
          </a:xfrm>
          <a:prstGeom prst="roundRect">
            <a:avLst>
              <a:gd name="adj" fmla="val 7143"/>
            </a:avLst>
          </a:prstGeom>
          <a:solidFill>
            <a:srgbClr val="1F6FB5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7406640" y="3639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5" name="Text 93"/>
          <p:cNvSpPr txBox="1"/>
          <p:nvPr/>
        </p:nvSpPr>
        <p:spPr>
          <a:xfrm>
            <a:off x="7754112" y="3639312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node logging live, sequence numbers on screen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7406640" y="3986784"/>
            <a:ext cx="256032" cy="256032"/>
          </a:xfrm>
          <a:prstGeom prst="roundRect">
            <a:avLst>
              <a:gd name="adj" fmla="val 7143"/>
            </a:avLst>
          </a:prstGeom>
          <a:solidFill>
            <a:srgbClr val="1F6FB5"/>
          </a:solidFill>
          <a:ln/>
        </p:spPr>
      </p:sp>
      <p:sp>
        <p:nvSpPr>
          <p:cNvPr id="97" name="Text 95"/>
          <p:cNvSpPr txBox="1"/>
          <p:nvPr/>
        </p:nvSpPr>
        <p:spPr>
          <a:xfrm>
            <a:off x="7406640" y="3986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8" name="Text 96"/>
          <p:cNvSpPr txBox="1"/>
          <p:nvPr/>
        </p:nvSpPr>
        <p:spPr>
          <a:xfrm>
            <a:off x="7754112" y="3986784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pulled out — it keeps logging, then fills the gap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7406640" y="4334256"/>
            <a:ext cx="256032" cy="256032"/>
          </a:xfrm>
          <a:prstGeom prst="roundRect">
            <a:avLst>
              <a:gd name="adj" fmla="val 7143"/>
            </a:avLst>
          </a:prstGeom>
          <a:solidFill>
            <a:srgbClr val="1F6FB5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7406640" y="4334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01" name="Text 99"/>
          <p:cNvSpPr txBox="1"/>
          <p:nvPr/>
        </p:nvSpPr>
        <p:spPr>
          <a:xfrm>
            <a:off x="7754112" y="4334256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sprayed on the sealed box while it keeps running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7406640" y="4681728"/>
            <a:ext cx="256032" cy="256032"/>
          </a:xfrm>
          <a:prstGeom prst="roundRect">
            <a:avLst>
              <a:gd name="adj" fmla="val 7143"/>
            </a:avLst>
          </a:prstGeom>
          <a:solidFill>
            <a:srgbClr val="1F6FB5"/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7406640" y="4681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04" name="Text 102"/>
          <p:cNvSpPr txBox="1"/>
          <p:nvPr/>
        </p:nvSpPr>
        <p:spPr>
          <a:xfrm>
            <a:off x="7754112" y="4681728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nodes disagree → the faulty one is flagged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7406640" y="5029200"/>
            <a:ext cx="256032" cy="256032"/>
          </a:xfrm>
          <a:prstGeom prst="roundRect">
            <a:avLst>
              <a:gd name="adj" fmla="val 7143"/>
            </a:avLst>
          </a:prstGeom>
          <a:solidFill>
            <a:srgbClr val="1F6FB5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7406640" y="5029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07" name="Text 105"/>
          <p:cNvSpPr txBox="1"/>
          <p:nvPr/>
        </p:nvSpPr>
        <p:spPr>
          <a:xfrm>
            <a:off x="7754112" y="50292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reading edited in the database → verification fails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7406640" y="5394960"/>
            <a:ext cx="4315968" cy="877824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2E5C8A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7516368" y="543153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SHIPMENT (₹)</a:t>
            </a:r>
            <a:endParaRPr lang="en-US" sz="800" dirty="0"/>
          </a:p>
        </p:txBody>
      </p:sp>
      <p:graphicFrame>
        <p:nvGraphicFramePr>
          <p:cNvPr id="110" name="Chart 0" descr=""/>
          <p:cNvGraphicFramePr/>
          <p:nvPr/>
        </p:nvGraphicFramePr>
        <p:xfrm>
          <a:off x="7479792" y="5596128"/>
          <a:ext cx="4169664" cy="6583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182880"/>
            <a:ext cx="1115568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E9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10896" y="182880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</a:t>
            </a:r>
            <a:endParaRPr lang="en-US" sz="8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182880"/>
            <a:ext cx="8869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10896" y="896112"/>
            <a:ext cx="1156716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391656"/>
            <a:ext cx="12191695" cy="347472"/>
          </a:xfrm>
          <a:prstGeom prst="rect">
            <a:avLst/>
          </a:prstGeom>
          <a:solidFill>
            <a:srgbClr val="1F6FB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0" y="6391656"/>
            <a:ext cx="4873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39165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" y="1115568"/>
            <a:ext cx="5852160" cy="2487168"/>
          </a:xfrm>
          <a:prstGeom prst="roundRect">
            <a:avLst>
              <a:gd name="adj" fmla="val 1103"/>
            </a:avLst>
          </a:prstGeom>
          <a:solidFill>
            <a:srgbClr val="DEEAF6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" y="996696"/>
            <a:ext cx="3986784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2064" y="978408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Real Trip: Nashik → JNPT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" y="131673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truck loses signal for 29 hours somewhere past Dhule.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0352" y="1609344"/>
            <a:ext cx="1046074" cy="365760"/>
          </a:xfrm>
          <a:prstGeom prst="roundRect">
            <a:avLst>
              <a:gd name="adj" fmla="val 5000"/>
            </a:avLst>
          </a:prstGeom>
          <a:solidFill>
            <a:srgbClr val="1F6FB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0352" y="1609344"/>
            <a:ext cx="10460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613002" y="1609344"/>
            <a:ext cx="3103108" cy="365760"/>
          </a:xfrm>
          <a:prstGeom prst="roundRect">
            <a:avLst>
              <a:gd name="adj" fmla="val 5000"/>
            </a:avLst>
          </a:prstGeom>
          <a:solidFill>
            <a:srgbClr val="C050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613002" y="1609344"/>
            <a:ext cx="3103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 — 29 HOURS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60950" y="1609344"/>
            <a:ext cx="1046074" cy="365760"/>
          </a:xfrm>
          <a:prstGeom prst="roundRect">
            <a:avLst>
              <a:gd name="adj" fmla="val 5000"/>
            </a:avLst>
          </a:prstGeom>
          <a:solidFill>
            <a:srgbClr val="1F6FB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60950" y="1609344"/>
            <a:ext cx="10460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ONLINE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" y="1993392"/>
            <a:ext cx="10826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1000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613002" y="1993392"/>
            <a:ext cx="31396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5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 … 1350 saved on the device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4860950" y="1993392"/>
            <a:ext cx="10826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uploads, in order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93776" y="2231136"/>
            <a:ext cx="5486400" cy="585216"/>
          </a:xfrm>
          <a:prstGeom prst="roundRect">
            <a:avLst>
              <a:gd name="adj" fmla="val 4688"/>
            </a:avLst>
          </a:prstGeom>
          <a:solidFill>
            <a:srgbClr val="FBE4D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1792" y="226771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5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AnnaChain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25054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hours simply missing. The buyer disputes the load.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3840480" y="22860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50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records recovered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3776" y="2889504"/>
            <a:ext cx="5486400" cy="585216"/>
          </a:xfrm>
          <a:prstGeom prst="roundRect">
            <a:avLst>
              <a:gd name="adj" fmla="val 4688"/>
            </a:avLst>
          </a:prstGeom>
          <a:solidFill>
            <a:srgbClr val="E2EFD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21792" y="29260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AnnaChain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" y="31638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reading kept, then uploaded and checked.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3840480" y="294436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7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350 records recovered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09360" y="1115568"/>
            <a:ext cx="5568696" cy="2487168"/>
          </a:xfrm>
          <a:prstGeom prst="roundRect">
            <a:avLst>
              <a:gd name="adj" fmla="val 1103"/>
            </a:avLst>
          </a:prstGeom>
          <a:solidFill>
            <a:srgbClr val="F2F7FC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10528" y="996696"/>
            <a:ext cx="2130552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10528" y="9784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Shaping Impact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92240" y="1353312"/>
            <a:ext cx="1627632" cy="969264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9525">
            <a:solidFill>
              <a:srgbClr val="2E5C8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47104" y="1426464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REACH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6547104" y="1755648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crate is watched, not just the truck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266176" y="1353312"/>
            <a:ext cx="1627632" cy="969264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9525">
            <a:solidFill>
              <a:srgbClr val="2E5C8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21040" y="1426464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RELIEF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8321040" y="1755648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avoided rejection pays for 780 trips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040112" y="1353312"/>
            <a:ext cx="1627632" cy="969264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9525">
            <a:solidFill>
              <a:srgbClr val="2E5C8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094976" y="1426464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OUTCOMES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10094976" y="1755648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while the load can still be saved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92240" y="2432304"/>
            <a:ext cx="1627632" cy="969264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9525">
            <a:solidFill>
              <a:srgbClr val="2E5C8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547104" y="2505456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OF FOOD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6547104" y="2834640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spoilage caught at the dock and the mandi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266176" y="2432304"/>
            <a:ext cx="1627632" cy="969264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9525">
            <a:solidFill>
              <a:srgbClr val="2E5C8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321040" y="2505456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8321040" y="2834640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a foreign buyer accepts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0040112" y="2432304"/>
            <a:ext cx="1627632" cy="969264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9525">
            <a:solidFill>
              <a:srgbClr val="2E5C8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094976" y="2505456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10094976" y="2834640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operators get what only big firms had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10896" y="3767328"/>
            <a:ext cx="5852160" cy="2450592"/>
          </a:xfrm>
          <a:prstGeom prst="roundRect">
            <a:avLst>
              <a:gd name="adj" fmla="val 1119"/>
            </a:avLst>
          </a:prstGeom>
          <a:solidFill>
            <a:srgbClr val="DEEAF6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2064" y="3648456"/>
            <a:ext cx="2528316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512064" y="3630168"/>
            <a:ext cx="2528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Nationwide Impact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493776" y="3986784"/>
            <a:ext cx="1042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050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81%</a:t>
            </a:r>
            <a:endParaRPr lang="en-US" sz="1700" dirty="0"/>
          </a:p>
        </p:txBody>
      </p:sp>
      <p:sp>
        <p:nvSpPr>
          <p:cNvPr id="55" name="Text 53"/>
          <p:cNvSpPr txBox="1"/>
          <p:nvPr/>
        </p:nvSpPr>
        <p:spPr>
          <a:xfrm>
            <a:off x="1645920" y="3986784"/>
            <a:ext cx="4334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export rejections are paperwork, handling and temperature — not pesticides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493776" y="4535424"/>
            <a:ext cx="1042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1700" dirty="0"/>
          </a:p>
        </p:txBody>
      </p:sp>
      <p:sp>
        <p:nvSpPr>
          <p:cNvPr id="57" name="Text 55"/>
          <p:cNvSpPr txBox="1"/>
          <p:nvPr/>
        </p:nvSpPr>
        <p:spPr>
          <a:xfrm>
            <a:off x="1645920" y="4535424"/>
            <a:ext cx="4334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India's cold chain is run by small operators who buy nothing today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493776" y="5084064"/>
            <a:ext cx="1042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5-15%</a:t>
            </a:r>
            <a:endParaRPr lang="en-US" sz="1700" dirty="0"/>
          </a:p>
        </p:txBody>
      </p:sp>
      <p:sp>
        <p:nvSpPr>
          <p:cNvPr id="59" name="Text 57"/>
          <p:cNvSpPr txBox="1"/>
          <p:nvPr/>
        </p:nvSpPr>
        <p:spPr>
          <a:xfrm>
            <a:off x="1645920" y="5084064"/>
            <a:ext cx="4334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fruit and vegetables are lost after harvest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493776" y="5632704"/>
            <a:ext cx="1042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1700" dirty="0"/>
          </a:p>
        </p:txBody>
      </p:sp>
      <p:sp>
        <p:nvSpPr>
          <p:cNvPr id="61" name="Text 59"/>
          <p:cNvSpPr txBox="1"/>
          <p:nvPr/>
        </p:nvSpPr>
        <p:spPr>
          <a:xfrm>
            <a:off x="1645920" y="5632704"/>
            <a:ext cx="4334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reefer trucks exist against 62,000 the country needs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309360" y="3767328"/>
            <a:ext cx="5568696" cy="2450592"/>
          </a:xfrm>
          <a:prstGeom prst="roundRect">
            <a:avLst>
              <a:gd name="adj" fmla="val 1119"/>
            </a:avLst>
          </a:prstGeom>
          <a:solidFill>
            <a:srgbClr val="F2F7FC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510528" y="3648456"/>
            <a:ext cx="1732788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6510528" y="3630168"/>
            <a:ext cx="17327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6492240" y="4069080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6675120" y="3977640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gateway already serves a whole truck — adding crates costs ₹1,839 each, not a new subscription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492240" y="4507992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6675120" y="4416552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parts and Indian EMS: no BGA-only components, no imported assembly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492240" y="4946904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6675120" y="4855464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20 nodes on one APEDA lane, then FPO clusters under the 10,000-FPO scheme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492240" y="5385816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6675120" y="5294376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come out as GS1 EPCIS events, so FSSAI and APEDA systems can read them as they are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492240" y="5824728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6675120" y="5733288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ordinary LTE where NB-IoT has not reached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182880"/>
            <a:ext cx="1115568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E9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10896" y="182880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</a:t>
            </a:r>
            <a:endParaRPr lang="en-US" sz="8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182880"/>
            <a:ext cx="8869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REFERENCES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10896" y="896112"/>
            <a:ext cx="1156716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391656"/>
            <a:ext cx="12191695" cy="347472"/>
          </a:xfrm>
          <a:prstGeom prst="rect">
            <a:avLst/>
          </a:prstGeom>
          <a:solidFill>
            <a:srgbClr val="1F6FB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0" y="6391656"/>
            <a:ext cx="4873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39165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" y="1115568"/>
            <a:ext cx="5760720" cy="2432304"/>
          </a:xfrm>
          <a:prstGeom prst="roundRect">
            <a:avLst>
              <a:gd name="adj" fmla="val 1128"/>
            </a:avLst>
          </a:prstGeom>
          <a:solidFill>
            <a:srgbClr val="DEEAF6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" y="996696"/>
            <a:ext cx="3191256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2064" y="978408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Standards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" y="1335024"/>
            <a:ext cx="1298448" cy="256032"/>
          </a:xfrm>
          <a:prstGeom prst="roundRect">
            <a:avLst>
              <a:gd name="adj" fmla="val 10714"/>
            </a:avLst>
          </a:prstGeom>
          <a:solidFill>
            <a:srgbClr val="C000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3776" y="133502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93776" y="1728216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6656" y="1636776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NCCD / IIF 2026 — India runs 10,000 reefer trucks against 62,000 needed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3776" y="2112264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" y="2020824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IMARC 2025 — cold chain ₹2,536 bn; 80% of capacity unorganised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3776" y="2496312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6656" y="2404872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UNIDO 14-year analysis (Crop Care Federation of India) — 81% of rejections are not pesticide-related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3776" y="2852928"/>
            <a:ext cx="1298448" cy="256032"/>
          </a:xfrm>
          <a:prstGeom prst="roundRect">
            <a:avLst>
              <a:gd name="adj" fmla="val 10714"/>
            </a:avLst>
          </a:prstGeom>
          <a:solidFill>
            <a:srgbClr val="1F386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93776" y="285292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493776" y="316382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GS1 EPCIS 2.0  ·  EN 12830 and EN 13486  ·  FDA FSMA 204  ·  EU 178/2002 Art. 18  ·  MeitY Vishvasya  ·  TEC MTCTE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0896" y="3712464"/>
            <a:ext cx="5760720" cy="2505456"/>
          </a:xfrm>
          <a:prstGeom prst="roundRect">
            <a:avLst>
              <a:gd name="adj" fmla="val 1095"/>
            </a:avLst>
          </a:prstGeom>
          <a:solidFill>
            <a:srgbClr val="DEEAF6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" y="3593592"/>
            <a:ext cx="3456432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12064" y="3575304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From Literature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3776" y="3995928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6656" y="3904488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alone does not make data true — the reading must be trustworthy before it is written. That is why we sign inside the device.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3776" y="4599432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6656" y="450799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Cold-chain loggers fail most often at the link, not the sensor. Storing first and reconciling later removes that failure mode.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3776" y="5202936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6656" y="5111496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Ethylene sensing below 1 ppm needs laboratory instruments. We state what we can honestly measure, and cost three options.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3776" y="5806440"/>
            <a:ext cx="82296" cy="82296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76656" y="571500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Lithium cells cannot be charged below 0 °C without damage — a real trap for frozen lanes, so the design either uses LiFePO₄ or blocks charging when it is that cold.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1115568"/>
            <a:ext cx="5660136" cy="5102352"/>
          </a:xfrm>
          <a:prstGeom prst="roundRect">
            <a:avLst>
              <a:gd name="adj" fmla="val 538"/>
            </a:avLst>
          </a:prstGeom>
          <a:solidFill>
            <a:srgbClr val="F2F7FC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19088" y="996696"/>
            <a:ext cx="5047488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19088" y="978408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Number, and Where It Came From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353312"/>
          <a:ext cx="5294376" cy="914400"/>
        </p:xfrm>
        <a:graphic>
          <a:graphicData uri="http://schemas.openxmlformats.org/drawingml/2006/table">
            <a:tbl>
              <a:tblPr/>
              <a:tblGrid>
                <a:gridCol w="2551176"/>
                <a:gridCol w="1207008"/>
                <a:gridCol w="153619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55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555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55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Reefer trucks India has / needs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 / 62,000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NCCD,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chain run by small operators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IMARC,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Rejections not caused by pesticides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UNIDO, 14 years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Fruit and vegetables lost after harvest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5-15%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Lok Sabha, 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Throw-away USB logger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listing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Single-use real-time logger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₹7,499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Sensitech, India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sensor node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E7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₹1,839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costing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shared gateway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E7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₹3,027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costing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cost per shipment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E7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costing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Idle current / battery life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E7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µA / 3.8 yr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power budget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5"/>
          <p:cNvSpPr/>
          <p:nvPr/>
        </p:nvSpPr>
        <p:spPr>
          <a:xfrm>
            <a:off x="6400800" y="5504688"/>
            <a:ext cx="5294376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9525">
            <a:solidFill>
              <a:srgbClr val="2E5C8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28816" y="5504688"/>
            <a:ext cx="5038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21-part design document, BOM workbook and reproducible cost and power scripts available on request.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 2026 PS 26232 AnnaChain</dc:title>
  <dc:subject>PptxGenJS Presentation</dc:subject>
  <dc:creator>SecureHarvest</dc:creator>
  <cp:lastModifiedBy>SecureHarvest</cp:lastModifiedBy>
  <cp:revision>1</cp:revision>
  <dcterms:created xsi:type="dcterms:W3CDTF">2026-09-21T19:40:23Z</dcterms:created>
  <dcterms:modified xsi:type="dcterms:W3CDTF">2026-09-21T19:40:23Z</dcterms:modified>
</cp:coreProperties>
</file>